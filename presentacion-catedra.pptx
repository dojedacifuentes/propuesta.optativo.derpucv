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8229600" cy="8229600"/>
          </a:xfrm>
          <a:prstGeom prst="ellipse">
            <a:avLst/>
          </a:prstGeom>
          <a:solidFill>
            <a:srgbClr val="4BE7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201168" cy="0"/>
          </a:xfrm>
          <a:prstGeom prst="line">
            <a:avLst/>
          </a:prstGeom>
          <a:noFill/>
          <a:ln w="19050">
            <a:solidFill>
              <a:srgbClr val="4BE7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0" cy="201168"/>
          </a:xfrm>
          <a:prstGeom prst="line">
            <a:avLst/>
          </a:prstGeom>
          <a:noFill/>
          <a:ln w="19050">
            <a:solidFill>
              <a:srgbClr val="4BE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5486400"/>
            <a:ext cx="201168" cy="0"/>
          </a:xfrm>
          <a:prstGeom prst="line">
            <a:avLst/>
          </a:prstGeom>
          <a:noFill/>
          <a:ln w="19050">
            <a:solidFill>
              <a:srgbClr val="4BE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5486400"/>
            <a:ext cx="0" cy="201168"/>
          </a:xfrm>
          <a:prstGeom prst="line">
            <a:avLst/>
          </a:prstGeom>
          <a:noFill/>
          <a:ln w="19050">
            <a:solidFill>
              <a:srgbClr val="4BE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PROPUESTA PRELIMINAR · OPTATIVO DE PREGRADO · ESCUELA DE DERECHO PUCV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Derecho e </a:t>
            </a:r>
            <a:pPr indent="0" marL="0">
              <a:buNone/>
            </a:pPr>
            <a:r>
              <a:rPr lang="en-US" sz="52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Inteligencia Artificial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BA7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construir · verificar · gobernar sistemas jurídicos asistidos por IA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46227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4462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9459" y="4114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25219" y="4114800"/>
            <a:ext cx="821131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5219" y="4114800"/>
            <a:ext cx="821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CONSTRUIR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19502" y="4114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5262" y="4114800"/>
            <a:ext cx="821131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5262" y="4114800"/>
            <a:ext cx="821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VERIFICAR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79546" y="4114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45306" y="4114800"/>
            <a:ext cx="74615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5306" y="4114800"/>
            <a:ext cx="746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GOBERNAR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de cátedra · 16 semanas · sesión de 90 min · metodología ABP · sin prerrequisito de programación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DER-IA · OPT 2026 · El Método Constitucional · propuesta-optativo-derpucv.vercel.app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CURSO EN UNA LÁMINA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es y qué no es este optativo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201168" cy="0"/>
          </a:xfrm>
          <a:prstGeom prst="line">
            <a:avLst/>
          </a:prstGeom>
          <a:noFill/>
          <a:ln w="19050">
            <a:solidFill>
              <a:srgbClr val="54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0" cy="201168"/>
          </a:xfrm>
          <a:prstGeom prst="line">
            <a:avLst/>
          </a:prstGeom>
          <a:noFill/>
          <a:ln w="19050">
            <a:solidFill>
              <a:srgbClr val="54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taller donde cada estudiante construye un agente jurídico delimitado: un sistema que ejecuta una tarea acotada dentro de un marco de fuentes, reglas y límites fijado de antemano.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Formación de usuario crítico y constructor responsable.</a:t>
            </a:r>
            <a:endParaRPr lang="en-US" sz="14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criterio jurídico gobierna la tecnología en cada paso.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920240"/>
            <a:ext cx="201168" cy="0"/>
          </a:xfrm>
          <a:prstGeom prst="line">
            <a:avLst/>
          </a:prstGeom>
          <a:noFill/>
          <a:ln w="19050">
            <a:solidFill>
              <a:srgbClr val="E449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20240"/>
            <a:ext cx="0" cy="201168"/>
          </a:xfrm>
          <a:prstGeom prst="line">
            <a:avLst/>
          </a:prstGeom>
          <a:noFill/>
          <a:ln w="19050">
            <a:solidFill>
              <a:srgbClr val="E449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NO 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forma programadores ni promete agentes autónomos complejos.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asesoría legal automatizada ni reemplaza al abogado.</a:t>
            </a:r>
            <a:endParaRPr lang="en-US" sz="14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arquitectura de sistemas complejos queda para educación continua: aquí se llega a gobernar un agente acotado.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estudiante se evalúa como jurista que gobierna un sistema, no como desarrollador.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QUÉ ESTE CURSO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IA ya entró al Derecho — sin gobierno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BA7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estudiantes ya usan IA, con frecuencia sin verificación, trazabilidad ni responsabilidad. La Escuela responde formando, no prohibiendo.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926080"/>
            <a:ext cx="128016" cy="128016"/>
          </a:xfrm>
          <a:prstGeom prst="ellipse">
            <a:avLst/>
          </a:prstGeom>
          <a:solidFill>
            <a:srgbClr val="E4494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 espontáneo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consulta y se copia sin cotejar la fuente.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6517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926080"/>
            <a:ext cx="128016" cy="128016"/>
          </a:xfrm>
          <a:prstGeom prst="ellipse">
            <a:avLst/>
          </a:prstGeom>
          <a:solidFill>
            <a:srgbClr val="E0B04A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Alucinación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7947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Normas y fallos que no existen, con tono de certeza.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926080"/>
            <a:ext cx="128016" cy="128016"/>
          </a:xfrm>
          <a:prstGeom prst="ellipse">
            <a:avLst/>
          </a:prstGeom>
          <a:solidFill>
            <a:srgbClr val="E0B0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trazabilidad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sin fuente citable ni registro.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6840" y="26517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81160" y="2926080"/>
            <a:ext cx="128016" cy="128016"/>
          </a:xfrm>
          <a:prstGeom prst="ellipse">
            <a:avLst/>
          </a:prstGeom>
          <a:solidFill>
            <a:srgbClr val="E44949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Responsabilidad difusa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37947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responde por lo que el sistema afirma.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Estado regulatorio (Ley 21.719, proyecto de ley de IA): verificar a la fecha de dictación.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TESIS DEL CURSO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IA debe ser </a:t>
            </a:r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gobernada jurídicamente</a:t>
            </a:r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tradición dogmática, constitucional y filosófica del Derecho no es un obstáculo frente a la IA: es la herramienta para diseñar sistemas responsables. La ventaja no está en abandonar el Derecho, sino en aplicarlo al diseño y la evaluación de estos sistemas.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tecnología se somete a criterio jurídico, nunca al revés.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ESTRUCTURA · 16 SEMANAS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Mapa del semestre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88720" y="1965960"/>
            <a:ext cx="9784080" cy="0"/>
          </a:xfrm>
          <a:prstGeom prst="line">
            <a:avLst/>
          </a:prstGeom>
          <a:noFill/>
          <a:ln w="19050">
            <a:solidFill>
              <a:srgbClr val="20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2506" y="1865376"/>
            <a:ext cx="201168" cy="201168"/>
          </a:xfrm>
          <a:prstGeom prst="ellipse">
            <a:avLst/>
          </a:prstGeom>
          <a:solidFill>
            <a:srgbClr val="06090D"/>
          </a:solidFill>
          <a:ln w="31750">
            <a:solidFill>
              <a:srgbClr val="4B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2446020" cy="3017520"/>
          </a:xfrm>
          <a:prstGeom prst="roundRect">
            <a:avLst>
              <a:gd name="adj" fmla="val 2991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6032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C1–C4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18973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Alfabetización, tipologías, prompting y fuentes.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403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4286" y="1865376"/>
            <a:ext cx="201168" cy="201168"/>
          </a:xfrm>
          <a:prstGeom prst="ellipse">
            <a:avLst/>
          </a:prstGeom>
          <a:solidFill>
            <a:srgbClr val="06090D"/>
          </a:solidFill>
          <a:ln w="31750">
            <a:solidFill>
              <a:srgbClr val="E0B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1860" y="2286000"/>
            <a:ext cx="2446020" cy="3017520"/>
          </a:xfrm>
          <a:prstGeom prst="roundRect">
            <a:avLst>
              <a:gd name="adj" fmla="val 2991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51860" y="256032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CONSTRUIR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451860" y="306324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C5–C10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26180" y="3474720"/>
            <a:ext cx="18973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Constitución, arquitectura, prototipo, interfaz y datos.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521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86066" y="1865376"/>
            <a:ext cx="201168" cy="201168"/>
          </a:xfrm>
          <a:prstGeom prst="ellipse">
            <a:avLst/>
          </a:prstGeom>
          <a:solidFill>
            <a:srgbClr val="06090D"/>
          </a:solidFill>
          <a:ln w="31750">
            <a:solidFill>
              <a:srgbClr val="54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286000"/>
            <a:ext cx="2446020" cy="3017520"/>
          </a:xfrm>
          <a:prstGeom prst="roundRect">
            <a:avLst>
              <a:gd name="adj" fmla="val 2991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56032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4D6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263640" y="306324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C11–C13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474720"/>
            <a:ext cx="18973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legalidad, riesgos y regulación.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639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97846" y="1865376"/>
            <a:ext cx="201168" cy="201168"/>
          </a:xfrm>
          <a:prstGeom prst="ellipse">
            <a:avLst/>
          </a:prstGeom>
          <a:solidFill>
            <a:srgbClr val="06090D"/>
          </a:solidFill>
          <a:ln w="31750">
            <a:solidFill>
              <a:srgbClr val="9B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5420" y="2286000"/>
            <a:ext cx="2446020" cy="3017520"/>
          </a:xfrm>
          <a:prstGeom prst="roundRect">
            <a:avLst>
              <a:gd name="adj" fmla="val 2991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75420" y="256032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8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GOBERNAR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075420" y="306324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C14–C16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49740" y="3474720"/>
            <a:ext cx="18973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Pruebas, defensa y entrega final.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misma pieza —el agente— atraviesa las cuatro etapas: nunca se construye sin saber usar con criterio, ni se despliega sin verificar.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Cinco módulos · cada sesión produce un entregable que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 DE EGRESO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Escalera de competencias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5719572"/>
            <a:ext cx="128016" cy="128016"/>
          </a:xfrm>
          <a:prstGeom prst="ellipse">
            <a:avLst/>
          </a:prstGeom>
          <a:solidFill>
            <a:srgbClr val="4BE7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394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Alfabetización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5176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reconoce usos y riesgos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44805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4805172"/>
            <a:ext cx="128016" cy="128016"/>
          </a:xfrm>
          <a:prstGeom prst="ellipse">
            <a:avLst/>
          </a:prstGeom>
          <a:solidFill>
            <a:srgbClr val="4BE7FF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4480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Usuario crítico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4480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y control de fuentes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35661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3890772"/>
            <a:ext cx="128016" cy="128016"/>
          </a:xfrm>
          <a:prstGeom prst="ellipse">
            <a:avLst/>
          </a:prstGeom>
          <a:solidFill>
            <a:srgbClr val="E0B04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Constructor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diseña, construye y verifica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26517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2976372"/>
            <a:ext cx="128016" cy="128016"/>
          </a:xfrm>
          <a:prstGeom prst="ellipse">
            <a:avLst/>
          </a:prstGeom>
          <a:solidFill>
            <a:srgbClr val="54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Constructor + gobierno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6384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gobierna su agente acotado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84080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meta del curso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874520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06090D"/>
          </a:solidFill>
          <a:ln w="12700">
            <a:solidFill>
              <a:srgbClr val="6B778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0664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Arquitecto de sistemas ↗ educación continua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peldaño supone el anterior. El optativo llega a 'constructor con gobierno'.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EJE METODOLÓGICO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Método Constitucional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BA7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agente no se programa: se constituye. Como toda institución, recibe una norma que a la vez lo habilita y lo limita.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3108960"/>
            <a:ext cx="2377440" cy="2377440"/>
          </a:xfrm>
          <a:prstGeom prst="ellipse">
            <a:avLst/>
          </a:prstGeom>
          <a:solidFill>
            <a:srgbClr val="111C26"/>
          </a:solidFill>
          <a:ln w="31750">
            <a:solidFill>
              <a:srgbClr val="4BE7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3108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CONSTITUCIÓN
</a:t>
            </a:r>
            <a:pPr algn="ctr"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 agente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292608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3191256"/>
            <a:ext cx="128016" cy="128016"/>
          </a:xfrm>
          <a:prstGeom prst="ellipse">
            <a:avLst/>
          </a:prstGeom>
          <a:solidFill>
            <a:srgbClr val="E0B04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9260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Finalidad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 y fin lícito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292608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3191256"/>
            <a:ext cx="128016" cy="128016"/>
          </a:xfrm>
          <a:prstGeom prst="ellipse">
            <a:avLst/>
          </a:prstGeom>
          <a:solidFill>
            <a:srgbClr val="4B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9260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Competencia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puede / qué no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70332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968496"/>
            <a:ext cx="128016" cy="128016"/>
          </a:xfrm>
          <a:prstGeom prst="ellipse">
            <a:avLst/>
          </a:prstGeom>
          <a:solidFill>
            <a:srgbClr val="4BE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7033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Fuentes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de juridicidad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370332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968496"/>
            <a:ext cx="128016" cy="128016"/>
          </a:xfrm>
          <a:prstGeom prst="ellipse">
            <a:avLst/>
          </a:prstGeom>
          <a:solidFill>
            <a:srgbClr val="4B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7033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Límites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materias vedadas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448056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4745736"/>
            <a:ext cx="128016" cy="128016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44805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Procedimiento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iter reglado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448056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4745736"/>
            <a:ext cx="128016" cy="128016"/>
          </a:xfrm>
          <a:prstGeom prst="ellipse">
            <a:avLst/>
          </a:prstGeom>
          <a:solidFill>
            <a:srgbClr val="54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4805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Verificación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legalidad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0" y="525780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5522976"/>
            <a:ext cx="128016" cy="128016"/>
          </a:xfrm>
          <a:prstGeom prst="ellipse">
            <a:avLst/>
          </a:prstGeom>
          <a:solidFill>
            <a:srgbClr val="E0B04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5257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Bitácora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expediente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525780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5522976"/>
            <a:ext cx="128016" cy="128016"/>
          </a:xfrm>
          <a:prstGeom prst="ellipse">
            <a:avLst/>
          </a:prstGeom>
          <a:solidFill>
            <a:srgbClr val="E44949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5257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Escalamiento  </a:t>
            </a:r>
            <a:pPr indent="0" marL="0"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superior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Regla de oro: ninguna capacidad existe sin cláusula que la habilite. Lo no atribuido, está prohibido.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AGENTE POR DENTRO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Anatomía de un agente jurídico delimitado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1°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Finalidad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852928" y="18288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52928" y="2011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2°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44368" y="2377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Competencia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65776" y="18288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2011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3°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57216" y="2377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Fuentes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278624" y="18288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78624" y="2011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4°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70064" y="2377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Reglas duras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491472" y="18288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91472" y="20116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5°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82912" y="2377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Preferencias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611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6°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Procedimiento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852928" y="34290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52928" y="3611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7°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44368" y="3977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Verificación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065776" y="34290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65776" y="3611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8°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3977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Escalamiento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278624" y="342900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78624" y="3611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Art. 9°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70064" y="3977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Bitácora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278624" y="3429000"/>
            <a:ext cx="4242816" cy="1371600"/>
          </a:xfrm>
          <a:prstGeom prst="roundRect">
            <a:avLst>
              <a:gd name="adj" fmla="val 5333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07224" y="3429000"/>
            <a:ext cx="3785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UMBRAL CONSTITUCIONAL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excede competencia, carece de fuente o supera el riesgo: declina o deriva, y lo registra.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Una consulta desciende las nueve capas en orden; si una la detiene, se cita la cláusula que lo ordena.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NIVELES DE COMPLEJIDAD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Chatbot · herramienta · flujo · agente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Chatbot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conversa, no controla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gobierna: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Nada estable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40233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4206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Herramienta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4800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función acotada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5623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gobierna: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Instrucciones fijas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Flujo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pasos encadenados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5623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gobierna: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 procedimiento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840" y="31089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54D6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 delimitado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3886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+ Constitución + verificación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89720" y="5623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gobierna: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 Constitución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1600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más capacidad → más gobierno exigible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curso se detiene, deliberadamente, en el agente delimitado — no en el autónomo.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PUENTE CONCEPTUAL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Derecho traduce la tecnología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agente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37637" y="17373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0362" y="173736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órgano con competencia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45059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3736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06917" y="17373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19642" y="173736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 de instrucción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6032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Constitución del agente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37637" y="25603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0362" y="256032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 habilitante y limitante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27355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56032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fuente autorizada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06917" y="25603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19642" y="256032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de juridicidad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9651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verificación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37637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0362" y="338328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legalidad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09651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38328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bitácora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06917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19642" y="338328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expediente administrativo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91947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0624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escalamiento humano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37637" y="4206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0362" y="420624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superior / jurisdiccional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491947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20624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despliegue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06917" y="4206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19642" y="420624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en vigencia controlada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74243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02920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matriz de riesgos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037637" y="5029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50362" y="502920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de proporcionalidad operativo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09360" y="5742432"/>
            <a:ext cx="5212080" cy="0"/>
          </a:xfrm>
          <a:prstGeom prst="line">
            <a:avLst/>
          </a:prstGeom>
          <a:noFill/>
          <a:ln w="12700">
            <a:solidFill>
              <a:srgbClr val="203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5029200"/>
            <a:ext cx="23975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error de IA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06917" y="5029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19642" y="5029200"/>
            <a:ext cx="25017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4B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 inválido, anulable o no confiable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institución del Derecho tiene su equivalente en el diseño del sistema. Ese es el método.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 · HERRAMIENTAS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stack del abogado constructor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desarrollo asistido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8688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47872" y="201168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81344" y="201168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81344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publicación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85632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814816" y="201168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14816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D6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14816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7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razonamiento (Claude · ChatGPT · Gemini) alimenta todo el pipeline pero no aparece en él: es la deliberación previa a cada acto.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Razonar / comparar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· ChatGPT · Gemini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4480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11880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 · NotebookLM · bases públicas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480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Diagramar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Mermaid · Excalidraw · Figma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06840" y="4480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89720" y="4617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89720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· Google Drive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Íconos y marcas se usan de forma nominativa y educativa. Todas las herramientas tienen plan gratuito suficiente.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DISCIPLINA DE TRABAJO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Reglas de trabajo en laboratorio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 DEBE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Trabajar sobre casos ficticios o anonimizados.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Citar la fuente de cada afirmación jurídica.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cada decisión en la bitácora.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Versionar todo cambio (commit claro).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antes de confiar; marcar la incertidumbre.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Distinguir hecho, inferencia y recomendación.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SE DEBE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Cargar datos personales reales de terceros.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Presentar salida de IA como asesoría legal.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Copiar respuestas sin verificar la fuente.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credenciales o claves en el repositorio.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Atribuir al agente competencias sin cláusula.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Confundir 'suena bien' con 'es correcto'.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estudiante firma en la Clase 1 su compromiso de uso responsable: su propia norma habilitante.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MINIMIZACIÓN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Datos: usar el nivel más alto posible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4772" y="2057400"/>
            <a:ext cx="585216" cy="585216"/>
          </a:xfrm>
          <a:prstGeom prst="ellipse">
            <a:avLst/>
          </a:prstGeom>
          <a:solidFill>
            <a:srgbClr val="06090D"/>
          </a:solidFill>
          <a:ln w="25400">
            <a:solidFill>
              <a:srgbClr val="54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477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Ficticio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Preferente siempre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3692" y="2057400"/>
            <a:ext cx="585216" cy="585216"/>
          </a:xfrm>
          <a:prstGeom prst="ellipse">
            <a:avLst/>
          </a:prstGeom>
          <a:solidFill>
            <a:srgbClr val="06090D"/>
          </a:solidFill>
          <a:ln w="254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369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Público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Jurisprudencia, normativa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82612" y="2057400"/>
            <a:ext cx="585216" cy="585216"/>
          </a:xfrm>
          <a:prstGeom prst="ellipse">
            <a:avLst/>
          </a:prstGeom>
          <a:solidFill>
            <a:srgbClr val="06090D"/>
          </a:solidFill>
          <a:ln w="25400">
            <a:solidFill>
              <a:srgbClr val="E0B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261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Anonimizado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si es imprescindible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71532" y="2057400"/>
            <a:ext cx="585216" cy="585216"/>
          </a:xfrm>
          <a:prstGeom prst="ellipse">
            <a:avLst/>
          </a:prstGeom>
          <a:solidFill>
            <a:srgbClr val="06090D"/>
          </a:solidFill>
          <a:ln w="25400">
            <a:solidFill>
              <a:srgbClr val="E449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7153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Personal real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Prohibido en el curso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CHECKLIST DE ANONIMIZACIÓN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617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Eliminados nombres, RUT, contacto  ·  seudónimos consistentes  ·  sin reidentificación por combinación  ·  fechas y montos generalizados  ·  valor jurídico conservado  ·  documentado qué se anonimizó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dato que no se guarda no se filtra. Minimizar es la forma más barata de cumplir.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 DE LEGALIDAD DE LA SALIDA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Guía de verificación jurídica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hecho / inferencia / recomendación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78608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16352" y="2103120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16352" y="228600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16352" y="28346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Cotejar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07792" y="32461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 fuente autorizada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92624" y="2103120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28600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92624" y="28346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Marcar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84064" y="32461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incertidumbre y vacíos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31152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68896" y="2103120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68896" y="228600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4D6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68896" y="28346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Decidir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0336" y="32461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confía / advierte / deriva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07424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45168" y="2103120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45168" y="228600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45168" y="28346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36608" y="32461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bitácora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46177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SEÑALES DE ALUCINACIÓN JURÍDICA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de norma o fallo inexistente · número 'demasiado redondo' · afirmación categórica sin fuente · confianza uniforme sobre temas dispares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 que suena a Derecho no siempre lo es. Verificar es exigir la fuente antes de la confianza.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PROPORCIONALIDAD OPERATIVA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Matriz de riesgos y escalamiento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446227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462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BAJO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Resumir un texto público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6334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Responde y registra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2461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6301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Sugerir una vía procesal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8679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Responde con advertencia y fuentes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80560"/>
            <a:ext cx="446227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449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80560"/>
            <a:ext cx="4462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48646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Plazos, prescripción, materia penal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1023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Deriva a revisión humana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011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ÁRBOL DE ESCALAMIENTO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2423160"/>
            <a:ext cx="4526280" cy="566928"/>
          </a:xfrm>
          <a:prstGeom prst="roundRect">
            <a:avLst>
              <a:gd name="adj" fmla="val 8065"/>
            </a:avLst>
          </a:prstGeom>
          <a:solidFill>
            <a:srgbClr val="06090D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4231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¿En competencia?   </a:t>
            </a:r>
            <a:pPr indent="0" marL="0">
              <a:buNone/>
            </a:pPr>
            <a:r>
              <a:rPr lang="en-US" sz="95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→ declina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01100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3172968"/>
            <a:ext cx="4526280" cy="566928"/>
          </a:xfrm>
          <a:prstGeom prst="roundRect">
            <a:avLst>
              <a:gd name="adj" fmla="val 8065"/>
            </a:avLst>
          </a:prstGeom>
          <a:solidFill>
            <a:srgbClr val="06090D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1729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¿Con fuente?   </a:t>
            </a:r>
            <a:pPr indent="0" marL="0">
              <a:buNone/>
            </a:pPr>
            <a:r>
              <a:rPr lang="en-US" sz="95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→ deriva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01100" y="3721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3922776"/>
            <a:ext cx="4526280" cy="566928"/>
          </a:xfrm>
          <a:prstGeom prst="roundRect">
            <a:avLst>
              <a:gd name="adj" fmla="val 8065"/>
            </a:avLst>
          </a:prstGeom>
          <a:solidFill>
            <a:srgbClr val="06090D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9227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¿Riesgo alto?   </a:t>
            </a:r>
            <a:pPr indent="0" marL="0">
              <a:buNone/>
            </a:pPr>
            <a:r>
              <a:rPr lang="en-US" sz="950" dirty="0">
                <a:solidFill>
                  <a:srgbClr val="E4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 → revisión humana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01100" y="4471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4672584"/>
            <a:ext cx="4526280" cy="566928"/>
          </a:xfrm>
          <a:prstGeom prst="roundRect">
            <a:avLst>
              <a:gd name="adj" fmla="val 8065"/>
            </a:avLst>
          </a:prstGeom>
          <a:solidFill>
            <a:srgbClr val="06090D"/>
          </a:solidFill>
          <a:ln w="25400">
            <a:solidFill>
              <a:srgbClr val="54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467258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Responde y registra   </a:t>
            </a:r>
            <a:pPr indent="0" marL="0">
              <a:buNone/>
            </a:pPr>
            <a:r>
              <a:rPr lang="en-US" sz="95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 advertencia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Ante duda sobre el nivel, se asume el superior. El costo de derivar de más es tiempo; el de menos, un daño jurídico.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EXPEDIENTE DEL AGENTE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registro, no hay gobierno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BA7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bitácora es el expediente administrativo del sistema: prueba qué se decidió, cuándo y por qué. En la defensa final no se pregunta si funciona, sino por qué decidió así.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743200"/>
                <a:gridCol w="246888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E7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Fecha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E7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Decisión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E7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Alternativas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E7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Fundamento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E7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Fuente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dd-mm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Limitar a materia 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Ampliar a Y (descartado)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Fuera de competencia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Art. 2°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dd-mm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Exigir cita en cada salida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Salida libre (descartado)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Trazabilidad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6F0D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Guía verif.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Una fila por decisión significativa. La bitácora convierte decisiones en actos fundados y revisables.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3200400"/>
            <a:ext cx="8229600" cy="8229600"/>
          </a:xfrm>
          <a:prstGeom prst="ellipse">
            <a:avLst/>
          </a:prstGeom>
          <a:solidFill>
            <a:srgbClr val="4BE7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Usar con criterio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C1–C4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construir: reconocer, distinguir, instruir y controlar fuentes.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D · Las 16 clases · cada sesión de 90 min en tres capas: marco · laboratorio · verificación.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01 · USAR CON CRITERIO · SESIÓN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IA ya entró al Derecho: del uso espontáneo al gobernado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“¿Qué separa el uso espontáneo del uso gobernado?”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Alfabetización; diferencia entre consultar, delegar y automatizar.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 los usos actuales de IA de cada estudiante.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personal de riesgos y oportunidades.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se trata de usar más IA, sino de responder por lo que hace en nuestro nombre.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01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01 · USAR CON CRITERIO · SESIÓN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Chatbot, herramienta, flujo y agente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“¿Qué distingue cada nivel y por qué importa jurídicamente?”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Niveles de complejidad y su exigencia de gobierno.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una misma tarea en Claude, ChatGPT y Gemini.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Tabla comparativa de respuestas, límites y errores.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Elegir el modelo correcto ya es una decisión jurídica.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02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01 · USAR CON CRITERIO · SESIÓN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Prompting jurídico responsable y economía de contexto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se instruye a la IA como a un jurista riguroso?”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Rol, contexto, fuentes, restricciones, ejemplos y verificación.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Redactar y refinar prompts de análisis preliminar.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 inicial de prompts jurídicos.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Quien instruye mal, delega mal.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03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01 · USAR CON CRITERIO · SESIÓN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Investigación jurídica asistida y control de fuentes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investigar sin perder la trazabilidad?”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 autorizada; buscar vs. resumir vs. inferir.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 y NotebookLM sobre documentos cargados.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de fuentes del proyecto.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fuente no hay Derecho: la trazabilidad separa investigar de opinar.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04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3200400"/>
            <a:ext cx="8229600" cy="8229600"/>
          </a:xfrm>
          <a:prstGeom prst="ellipse">
            <a:avLst/>
          </a:prstGeom>
          <a:solidFill>
            <a:srgbClr val="E0B04A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Diseño constitucional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C5–C7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corazón jurídico: recortar el problema, redactar la Constitución, trazar la arquitectura.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D · Las 16 clases · cada sesión de 90 min en tres capas: marco · laboratorio · verificación.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02 · DISEÑO CONSTITUCIONAL · SESIÓN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Método Constitucional I: el agente como institución mínima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“¿Qué problema merece un agente, y con qué finalidad?”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Finalidad, competencia, mandato y responsabilidad.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 el problema jurídico acotado del prototipo.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 de problema y finalidad + ficha de usuario.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agente que quiere hacerlo todo no puede responder por nada.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05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02 · DISEÑO CONSTITUCIONAL · SESIÓN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Método Constitucional II: redactar la Constitución del agente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se escribe la norma que habilita y limita?”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duras, preferencias, prohibiciones, escalamiento.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 versión de la Constitución del agente.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Constitución v1 (revisión intermedia).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Aquí el estudiante legisla para su sistema.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06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02 · DISEÑO CONSTITUCIONAL · SESIÓN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la idea al flujo: arquitectura mínima de una herramienta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se traduce la Constitución en un flujo operativo?”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Entrada, procesamiento, fuentes, salida, control y bitácora.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Diagramar el flujo del prototipo (Excalidraw / Mermaid).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Flujograma operativo.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flujo es la Constitución puesta en movimiento.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07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3200400"/>
            <a:ext cx="8229600" cy="8229600"/>
          </a:xfrm>
          <a:prstGeom prst="ellipse">
            <a:avLst/>
          </a:prstGeom>
          <a:solidFill>
            <a:srgbClr val="E0B04A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Construir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9618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5961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C8–C10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norma al prototipo: levantar, diseñar la interfaz y dar datos mínimos.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D · Las 16 clases · cada sesión de 90 min en tres capas: marco · laboratorio · verificación.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03 · CONSTRUIR · SESIÓN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Code, GitHub y Vercel: prototipo sin ser programador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construir y publicar sin escribir código a mano?”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asistido, repositorio, despliegue, versiones.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el repositorio base y publicar la primera maqueta.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funcional del prototipo.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Publicar es un acto de responsabilidad: ya puede usarlo alguien.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08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03 · CONSTRUIR · SESIÓN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Interfaz jurídica: claridad, advertencias y UX responsable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comunicar sin inducir a error?”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Formularios, outputs, disclaimers, estados de incertidumbre.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la pantalla de entrada y salida del agente.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v1 con advertencias.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interfaz honesta advierte antes de que se le pregunte.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09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03 · CONSTRUIR · SESIÓN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Datos, anonimización y Supabase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“¿Qué datos necesita realmente, y cómo guardarlos bien?”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Minimización, datos ficticios, tablas básicas, persistencia.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o simular persistencia estructurada mínima.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de datos + política mínima de datos.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dato que no se guarda no se filtra.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10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3200400"/>
            <a:ext cx="8229600" cy="8229600"/>
          </a:xfrm>
          <a:prstGeom prst="ellipse">
            <a:avLst/>
          </a:prstGeom>
          <a:solidFill>
            <a:srgbClr val="54D6A0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Verificar y gobernar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67117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671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C11–C13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legalidad de la salida: verificación, riesgos y regulación.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D · Las 16 clases · cada sesión de 90 min en tres capas: marco · laboratorio · verificación.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04 · VERIFICAR Y GOBERNAR · SESIÓN 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Verificación jurídica I: hechos, inferencias y recomendaciones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no confiar en lo que solo parece verdadero?”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alucinaciones, fuentes, incertidumbre, trazabilidad.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Someter salidas del prototipo al análisis y construir el checklist.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de verificación v1.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Verificar es exigir la fuente antes de la confianza.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11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04 · VERIFICAR Y GOBERNAR · SESIÓN 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Verificación jurídica II: matriz de riesgos y escalamiento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“¿Cuándo detenerse, advertir o derivar?”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bajo/medio/alto; umbrales de derivación.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riesgos aplicada al prototipo.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riesgos v1 + árbol de escalamiento.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sistema maduro sabe cuándo no debe actuar solo.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12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04 · VERIFICAR Y GOBERNAR · SESIÓN 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Regulación, ética y responsabilidad profesional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“¿Qué marco regula al agente y quién responde?”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Datos, deberes de advertencia, transparencia, responsabilidad.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Auditoría regulatoria básica del prototipo.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 breve de cumplimiento y riesgos.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IA se gobierna jurídicamente o no se gobierna.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13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3200400"/>
            <a:ext cx="8229600" cy="8229600"/>
          </a:xfrm>
          <a:prstGeom prst="ellipse">
            <a:avLst/>
          </a:prstGeom>
          <a:solidFill>
            <a:srgbClr val="9B8C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Evaluar y defender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67117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671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C14–C16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Probar, defender y entregar: justificar cada decisión ante la cátedra.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D · Las 16 clases · cada sesión de 90 min en tres capas: marco · laboratorio · verificación.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05 · EVALUAR Y DEFENDER · SESIÓN 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Evaluación del agente: pruebas, errores y mejora continua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descubrir sus fallas antes de defenderlo?”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prueba, bitácora, iteración, métricas simples.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Testeo cruzado entre grupos: romper el agente ajeno.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Bitácora de pruebas y correcciones.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agente que nadie intentó romper no está probado, solo estrenado.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14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05 · EVALUAR Y DEFENDER · SESIÓN 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Defensa técnica y jurídica del diseño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“¿Cómo justificar cada decisión ante la cátedra?”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Explicar decisiones: fuentes, límites, interfaz y riesgos.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Simulación de defensa ante otro grupo.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de defensa.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se pregunta si funciona, sino por qué decidiste que funcionara así.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15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05 · EVALUAR Y DEFENDER · SESIÓN 16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Presentación final: agente jurídico delimitado y gobernado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“¿Está completo, documentado, verificado y defendido?”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4B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 · MARCO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9034" y="2514600"/>
            <a:ext cx="1570939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9034" y="2514600"/>
            <a:ext cx="15709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25–75 · LABORATORIO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22853" y="2514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11C26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2853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75–90 · VERIFICACIÓN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final, defensa, retroalimentación, cierre.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LABORATORIO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y revisión final ante la cátedra.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94192" y="3794760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Prototipo, Constitución, matriz, bitácora y defensa.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spc="100" kern="0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  </a:t>
            </a:r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Formar juristas que no le teman a la IA ni la veneren: que la gobiernen.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 16 de 16 · Derecho e IA · Optativo PUCV · cada sesión alimenta el proyecto final.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EVALUACIÓN AUTÉNTICA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·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3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Rúbrica del proyecto final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Problema jurídico y delimitación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1783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Constitución del agente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4414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Fuentes y trazabilidad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4414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414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24414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Prototipo funcional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099816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30998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Verificación y pruebas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099816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30998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Matriz de riesgos y escalamiento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758184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0E172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581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91640" y="37581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Defensa oral y documentación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3758184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37581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intermedia formativa · semana 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11C26"/>
          </a:solidFill>
          <a:ln w="12700">
            <a:solidFill>
              <a:srgbClr val="2030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4617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spc="100" kern="0" dirty="0">
                <a:solidFill>
                  <a:srgbClr val="E0B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CRITERIO TRANSVERSAL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6F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estudiante se evalúa como abogado capaz de diseñar, justificar, verificar y gobernar un sistema — no como programador. Un prototipo modesto bien gobernado supera a uno vistoso sin control.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Rúbrica pública desde la Clase 1 · idéntica en la plataforma, el programa y el material docente.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203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· 39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60720" y="1371600"/>
            <a:ext cx="10058400" cy="10058400"/>
          </a:xfrm>
          <a:prstGeom prst="ellipse">
            <a:avLst/>
          </a:prstGeom>
          <a:solidFill>
            <a:srgbClr val="4BE7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4BE7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OBJETO DEL CURSO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6F0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Formar juristas que no le teman a la IA ni la veneren: 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4BE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 la gobiernen.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BA7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agente jurídico delimitado, documentado, verificado y defendido: una institución mínima que se gobierna a sí misma.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7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Derecho e Inteligencia Artificial · Optativo de pregrado · Escuela de Derecho PUCV · Documento de trabajo preliminar.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Derecho e Inteligencia Artificial · Optativo</dc:title>
  <dc:subject>PptxGenJS Presentation</dc:subject>
  <dc:creator>Escuela de Derecho PUCV</dc:creator>
  <cp:lastModifiedBy>Escuela de Derecho PUCV</cp:lastModifiedBy>
  <cp:revision>1</cp:revision>
  <dcterms:created xsi:type="dcterms:W3CDTF">2026-07-07T06:59:22Z</dcterms:created>
  <dcterms:modified xsi:type="dcterms:W3CDTF">2026-07-07T06:59:22Z</dcterms:modified>
</cp:coreProperties>
</file>